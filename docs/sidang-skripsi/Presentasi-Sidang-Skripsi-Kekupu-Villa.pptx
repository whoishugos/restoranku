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5C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256032"/>
            <a:ext cx="932688" cy="932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261872"/>
            <a:ext cx="10972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C9A227"/>
                </a:solidFill>
                <a:latin typeface="Calibri"/>
                <a:ea typeface="Calibri"/>
              </a:rPr>
              <a:t>SIDANG PROPOSAL SKRIPSI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1069848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  <a:ea typeface="Calibri"/>
              </a:rPr>
              <a:t>Pengembangan Sistem Pemesanan Menu
Berbasis Web dan QR Code
Menggunakan Framework Laravel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F5D7B0"/>
                </a:solidFill>
                <a:latin typeface="Calibri"/>
                <a:ea typeface="Calibri"/>
              </a:rPr>
              <a:t>Studi Kasus: Restoran Kekupu Villa Jembrana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3675887"/>
            <a:ext cx="201168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13632"/>
            <a:ext cx="106984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Calibri"/>
              </a:rPr>
              <a:t>Ida Bagus Gede Rama Tommy Saputera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42816"/>
            <a:ext cx="10698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C9A227"/>
                </a:solidFill>
                <a:latin typeface="Calibri"/>
                <a:ea typeface="Calibri"/>
              </a:rPr>
              <a:t>NIM  22.03.02.0065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F5D7B0"/>
                </a:solidFill>
                <a:latin typeface="Calibri"/>
                <a:ea typeface="Calibri"/>
              </a:rPr>
              <a:t>Program Studi Sistem Informasi
Fakultas Teknik, Perencanaan dan Informatika  •  Universitas Hindu Indonesia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9728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5D7B0"/>
                </a:solidFill>
                <a:latin typeface="Calibri"/>
                <a:ea typeface="Calibri"/>
              </a:rPr>
              <a:t>Pembimbing I: I Putu Mahendra Adi Wardana, S.Pd., M.Kom.     •     Pembimbing II: Ida Ayu Utari Dewi, S.T., M.Si.     •  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PENDAHULUAN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Alur Presentasi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2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170432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1353312"/>
            <a:ext cx="566928" cy="548640"/>
          </a:xfrm>
          <a:prstGeom prst="roundRect">
            <a:avLst>
              <a:gd name="adj" fmla="val 20000"/>
            </a:avLst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353312"/>
            <a:ext cx="566928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316736"/>
            <a:ext cx="9875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7A1F1A"/>
                </a:solidFill>
                <a:latin typeface="Calibri"/>
                <a:ea typeface="Calibri"/>
              </a:rPr>
              <a:t>Latar Belakang &amp; Masalah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645920"/>
            <a:ext cx="98755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6E5648"/>
                </a:solidFill>
                <a:latin typeface="Calibri"/>
                <a:ea typeface="Calibri"/>
              </a:rPr>
              <a:t>Kondisi lapangan, identifikasi, dan research gap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194560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377440"/>
            <a:ext cx="566928" cy="548640"/>
          </a:xfrm>
          <a:prstGeom prst="roundRect">
            <a:avLst>
              <a:gd name="adj" fmla="val 20000"/>
            </a:avLst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377440"/>
            <a:ext cx="566928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340864"/>
            <a:ext cx="9875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7A1F1A"/>
                </a:solidFill>
                <a:latin typeface="Calibri"/>
                <a:ea typeface="Calibri"/>
              </a:rPr>
              <a:t>Rumusan, Tujuan &amp; Manfaat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670048"/>
            <a:ext cx="98755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6E5648"/>
                </a:solidFill>
                <a:latin typeface="Calibri"/>
                <a:ea typeface="Calibri"/>
              </a:rPr>
              <a:t>Enam pertanyaan penelitian dan luaran yang dituju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218688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401568"/>
            <a:ext cx="566928" cy="548640"/>
          </a:xfrm>
          <a:prstGeom prst="roundRect">
            <a:avLst>
              <a:gd name="adj" fmla="val 20000"/>
            </a:avLst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401568"/>
            <a:ext cx="566928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64992"/>
            <a:ext cx="9875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7A1F1A"/>
                </a:solidFill>
                <a:latin typeface="Calibri"/>
                <a:ea typeface="Calibri"/>
              </a:rPr>
              <a:t>Landasan Teori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694176"/>
            <a:ext cx="98755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6E5648"/>
                </a:solidFill>
                <a:latin typeface="Calibri"/>
                <a:ea typeface="Calibri"/>
              </a:rPr>
              <a:t>Teknologi, penelitian terdahulu, dan model Waterfall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242816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4425696"/>
            <a:ext cx="566928" cy="548640"/>
          </a:xfrm>
          <a:prstGeom prst="roundRect">
            <a:avLst>
              <a:gd name="adj" fmla="val 20000"/>
            </a:avLst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425696"/>
            <a:ext cx="566928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389120"/>
            <a:ext cx="9875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7A1F1A"/>
                </a:solidFill>
                <a:latin typeface="Calibri"/>
                <a:ea typeface="Calibri"/>
              </a:rPr>
              <a:t>Metode &amp; Perancangan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718304"/>
            <a:ext cx="98755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6E5648"/>
                </a:solidFill>
                <a:latin typeface="Calibri"/>
                <a:ea typeface="Calibri"/>
              </a:rPr>
              <a:t>Aktor, kebutuhan, Use Case, ERD, dan DFD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5266944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6928" y="5449824"/>
            <a:ext cx="566928" cy="548640"/>
          </a:xfrm>
          <a:prstGeom prst="roundRect">
            <a:avLst>
              <a:gd name="adj" fmla="val 20000"/>
            </a:avLst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5449824"/>
            <a:ext cx="566928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413248"/>
            <a:ext cx="9875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7A1F1A"/>
                </a:solidFill>
                <a:latin typeface="Calibri"/>
                <a:ea typeface="Calibri"/>
              </a:rPr>
              <a:t>Pengujian &amp; Jadwal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742432"/>
            <a:ext cx="987552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6E5648"/>
                </a:solidFill>
                <a:latin typeface="Calibri"/>
                <a:ea typeface="Calibri"/>
              </a:rPr>
              <a:t>Black-Box, UAT, dan tahapan waktu penelitian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  •  PENDAHULUAN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Latar Belakang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3 / 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97280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2A1B14"/>
                </a:solidFill>
                <a:latin typeface="Calibri"/>
                <a:ea typeface="Calibri"/>
              </a:rPr>
              <a:t>Industri jasa boga menuntut kecepatan dan akurasi pelayanan. Restoran Kekupu Villa Jembrana masih mencatat pesanan secara manual dengan nota kertas, tanpa integrasi digital antara meja, dapur, dan kasir.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874519"/>
            <a:ext cx="56235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874519"/>
            <a:ext cx="73152" cy="1965960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1965960"/>
            <a:ext cx="531266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Manual &amp; verbal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295144"/>
            <a:ext cx="5312664" cy="1435607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Pemesanan dicatat pramusaji, diantar fisik ke dapur, lalu dibayar di kasir.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74519"/>
            <a:ext cx="56235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874519"/>
            <a:ext cx="73152" cy="1965960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1965960"/>
            <a:ext cx="531266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Tanpa data terukur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2295144"/>
            <a:ext cx="5312664" cy="1435607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Pemilik sulit mengambil keputusan karena tidak ada pencatatan transaksi real-time.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023360"/>
            <a:ext cx="56235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023360"/>
            <a:ext cx="73152" cy="1965960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114800"/>
            <a:ext cx="531266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POS komersial kurang pas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4443984"/>
            <a:ext cx="5312664" cy="1435607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Biaya langganan tinggi, fitur generik, dan antarmuka rumit bagi staf.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023360"/>
            <a:ext cx="56235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4023360"/>
            <a:ext cx="73152" cy="1965960"/>
          </a:xfrm>
          <a:prstGeom prst="rect">
            <a:avLst/>
          </a:prstGeom>
          <a:solidFill>
            <a:srgbClr val="1F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4114800"/>
            <a:ext cx="531266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Solusi terpadu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4443984"/>
            <a:ext cx="5312664" cy="1435607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QR Code meja + Laravel 12 + Midtrans Snap + antrean dapur dalam satu sistem.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  •  PENDAHULUAN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Temuan Observasi &amp; Wawancara  •  4 Januari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4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143000"/>
            <a:ext cx="221284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43000"/>
            <a:ext cx="2212848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344168"/>
            <a:ext cx="2029967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7A1F1A"/>
                </a:solidFill>
                <a:latin typeface="Calibri"/>
                <a:ea typeface="Calibri"/>
              </a:rPr>
              <a:t>12 meja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01368"/>
            <a:ext cx="2029967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6E5648"/>
                </a:solidFill>
                <a:latin typeface="Calibri"/>
                <a:ea typeface="Calibri"/>
              </a:rPr>
              <a:t>Kapasitas fisik
(dihitung langsung)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06624" y="1143000"/>
            <a:ext cx="221284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06624" y="1143000"/>
            <a:ext cx="2212848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98064" y="1344168"/>
            <a:ext cx="2029967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7A1F1A"/>
                </a:solidFill>
                <a:latin typeface="Calibri"/>
                <a:ea typeface="Calibri"/>
              </a:rPr>
              <a:t>10–20 trx/hari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8064" y="1801368"/>
            <a:ext cx="2029967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6E5648"/>
                </a:solidFill>
                <a:latin typeface="Calibri"/>
                <a:ea typeface="Calibri"/>
              </a:rPr>
              <a:t>Volume transaksi
(estimasi pemilik)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7488" y="1143000"/>
            <a:ext cx="221284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7488" y="1143000"/>
            <a:ext cx="2212848" cy="7315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1344168"/>
            <a:ext cx="2029967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7A1F1A"/>
                </a:solidFill>
                <a:latin typeface="Calibri"/>
                <a:ea typeface="Calibri"/>
              </a:rPr>
              <a:t>25–45 menit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1801368"/>
            <a:ext cx="2029967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6E5648"/>
                </a:solidFill>
                <a:latin typeface="Calibri"/>
                <a:ea typeface="Calibri"/>
              </a:rPr>
              <a:t>Waktu tunggu
jam sibuk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88352" y="1143000"/>
            <a:ext cx="221284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88352" y="1143000"/>
            <a:ext cx="2212848" cy="73152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9792" y="1344168"/>
            <a:ext cx="2029967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7A1F1A"/>
                </a:solidFill>
                <a:latin typeface="Calibri"/>
                <a:ea typeface="Calibri"/>
              </a:rPr>
              <a:t>3–5 kali/hari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9792" y="1801368"/>
            <a:ext cx="2029967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6E5648"/>
                </a:solidFill>
                <a:latin typeface="Calibri"/>
                <a:ea typeface="Calibri"/>
              </a:rPr>
              <a:t>Kesalahan catat
menu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29216" y="1143000"/>
            <a:ext cx="221284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29216" y="1143000"/>
            <a:ext cx="2212848" cy="73152"/>
          </a:xfrm>
          <a:prstGeom prst="rect">
            <a:avLst/>
          </a:prstGeom>
          <a:solidFill>
            <a:srgbClr val="1E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0656" y="1344168"/>
            <a:ext cx="2029967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7A1F1A"/>
                </a:solidFill>
                <a:latin typeface="Calibri"/>
                <a:ea typeface="Calibri"/>
              </a:rPr>
              <a:t>2–4 item/hari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0656" y="1801368"/>
            <a:ext cx="2029967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6E5648"/>
                </a:solidFill>
                <a:latin typeface="Calibri"/>
                <a:ea typeface="Calibri"/>
              </a:rPr>
              <a:t>Menu habis tetap
ditawarkan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2633472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6E5648"/>
                </a:solidFill>
                <a:latin typeface="Calibri"/>
                <a:ea typeface="Calibri"/>
              </a:rPr>
              <a:t>Angka volume, waktu tunggu, dan kesalahan bersumber dari wawancara Bapak Bagus Suteja (pemilik) — indikasi awal, bukan pengukuran stopwatch.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3090672"/>
            <a:ext cx="114300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3090672"/>
            <a:ext cx="73152" cy="3246120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182112"/>
            <a:ext cx="1111910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Akar permasalahan yang menjadi urgensi penelitian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3511296"/>
            <a:ext cx="1113739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12 meja dine-in masih dilayani dengan nota kertas; tidak ada sistem digital terintegrasi.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Komunikasi verbal memperlambat siklus meja–dapur–kasir dan memicu human error.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Ketersediaan menu tidak tercatat digital, sehingga item habis baru diketahui setelah dipesan.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Pembayaran tunai/manual memicu antrean kasir dan rekap bulanan dari tumpukan nota.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Ketiadaan basis data andal membuat pemilik sulit memantau kinerja operasional secara real-time.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  •  PENDAHULUAN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Identifikasi Masalah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5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143000"/>
            <a:ext cx="5669280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43000"/>
            <a:ext cx="73152" cy="521208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234440"/>
            <a:ext cx="53583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Aspek Operasional &amp; Pelayanan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563624"/>
            <a:ext cx="5376672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A1B14"/>
                </a:solidFill>
                <a:latin typeface="Calibri"/>
                <a:ea typeface="Calibri"/>
              </a:rPr>
              <a:t>•  Efisiensi rendah: waktu tunggu jam padat 25–45 menit.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A1B14"/>
                </a:solidFill>
                <a:latin typeface="Calibri"/>
                <a:ea typeface="Calibri"/>
              </a:rPr>
              <a:t>•  Human error: salah catat menu 3–5 kali per hari.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A1B14"/>
                </a:solidFill>
                <a:latin typeface="Calibri"/>
                <a:ea typeface="Calibri"/>
              </a:rPr>
              <a:t>•  Koordinasi FOH–BOH terhambat nota kertas dan jarak area.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A1B14"/>
                </a:solidFill>
                <a:latin typeface="Calibri"/>
                <a:ea typeface="Calibri"/>
              </a:rPr>
              <a:t>•  Ketersediaan menu tidak transparan bagi pelanggan.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A1B14"/>
                </a:solidFill>
                <a:latin typeface="Calibri"/>
                <a:ea typeface="Calibri"/>
              </a:rPr>
              <a:t>•  Pembayaran kasir lambat dan rekapitulasi rentan selisih.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43000"/>
            <a:ext cx="5577840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143000"/>
            <a:ext cx="73152" cy="5212080"/>
          </a:xfrm>
          <a:prstGeom prst="rect">
            <a:avLst/>
          </a:prstGeom>
          <a:solidFill>
            <a:srgbClr val="1E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234440"/>
            <a:ext cx="52669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Aspek Teknis &amp; Pengembangan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1563624"/>
            <a:ext cx="5285231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A1B14"/>
                </a:solidFill>
                <a:latin typeface="Calibri"/>
                <a:ea typeface="Calibri"/>
              </a:rPr>
              <a:t>•  POS komersial mahal, generik, dan UI-nya rumit.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A1B14"/>
                </a:solidFill>
                <a:latin typeface="Calibri"/>
                <a:ea typeface="Calibri"/>
              </a:rPr>
              <a:t>•  Sistem sejenis belum mengintegrasikan pembayaran otomatis.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A1B14"/>
                </a:solidFill>
                <a:latin typeface="Calibri"/>
                <a:ea typeface="Calibri"/>
              </a:rPr>
              <a:t>•  Diperlukan arsitektur web Laravel 12 yang aman dan maintainable.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A1B14"/>
                </a:solidFill>
                <a:latin typeface="Calibri"/>
                <a:ea typeface="Calibri"/>
              </a:rPr>
              <a:t>•  Belum ada pengujian terukur (Black-Box + UAT) sebelum implementasi.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  •  PENDAHULUAN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Research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6 / 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97280"/>
            <a:ext cx="113385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2A1B14"/>
                </a:solidFill>
                <a:latin typeface="Calibri"/>
                <a:ea typeface="Calibri"/>
              </a:rPr>
              <a:t>Penelitian terdahulu sudah membahas QR Code, POS, atau payment gateway secara terpisah. Belum ada sistem terpadu yang memadukan keempatnya pada studi kasus UMKM restoran.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737360"/>
            <a:ext cx="571500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1920240"/>
            <a:ext cx="2103120" cy="347472"/>
          </a:xfrm>
          <a:prstGeom prst="roundRect">
            <a:avLst>
              <a:gd name="adj" fmla="val 15000"/>
            </a:avLst>
          </a:prstGeom>
          <a:solidFill>
            <a:srgbClr val="F4E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20240"/>
            <a:ext cx="21031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7A1F1A"/>
                </a:solidFill>
                <a:latin typeface="Calibri"/>
                <a:ea typeface="Calibri"/>
              </a:rPr>
              <a:t>QR + KDS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377439"/>
            <a:ext cx="5349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2A1B14"/>
                </a:solidFill>
                <a:latin typeface="Calibri"/>
                <a:ea typeface="Calibri"/>
              </a:rPr>
              <a:t>Irzan &amp; Yuliadi (2026)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743200"/>
            <a:ext cx="53492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6E5648"/>
                </a:solidFill>
                <a:latin typeface="Calibri"/>
                <a:ea typeface="Calibri"/>
              </a:rPr>
              <a:t>Belum merinci framework dan belum ada payment gateway.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737360"/>
            <a:ext cx="571500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1920240"/>
            <a:ext cx="2103120" cy="347472"/>
          </a:xfrm>
          <a:prstGeom prst="roundRect">
            <a:avLst>
              <a:gd name="adj" fmla="val 15000"/>
            </a:avLst>
          </a:prstGeom>
          <a:solidFill>
            <a:srgbClr val="F4E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920240"/>
            <a:ext cx="21031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7A1F1A"/>
                </a:solidFill>
                <a:latin typeface="Calibri"/>
                <a:ea typeface="Calibri"/>
              </a:rPr>
              <a:t>QR + CodeIgniter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377439"/>
            <a:ext cx="5349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2A1B14"/>
                </a:solidFill>
                <a:latin typeface="Calibri"/>
                <a:ea typeface="Calibri"/>
              </a:rPr>
              <a:t>Milenia dkk. (2024)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743200"/>
            <a:ext cx="53492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6E5648"/>
                </a:solidFill>
                <a:latin typeface="Calibri"/>
                <a:ea typeface="Calibri"/>
              </a:rPr>
              <a:t>Framework lama; pembayaran masih konvensional di kasir.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931920"/>
            <a:ext cx="571500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4114800"/>
            <a:ext cx="2103120" cy="347472"/>
          </a:xfrm>
          <a:prstGeom prst="roundRect">
            <a:avLst>
              <a:gd name="adj" fmla="val 15000"/>
            </a:avLst>
          </a:prstGeom>
          <a:solidFill>
            <a:srgbClr val="F4E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114800"/>
            <a:ext cx="21031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7A1F1A"/>
                </a:solidFill>
                <a:latin typeface="Calibri"/>
                <a:ea typeface="Calibri"/>
              </a:rPr>
              <a:t>Mobile + Midtrans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572000"/>
            <a:ext cx="5349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2A1B14"/>
                </a:solidFill>
                <a:latin typeface="Calibri"/>
                <a:ea typeface="Calibri"/>
              </a:rPr>
              <a:t>Benny dkk. (2022)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937760"/>
            <a:ext cx="53492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6E5648"/>
                </a:solidFill>
                <a:latin typeface="Calibri"/>
                <a:ea typeface="Calibri"/>
              </a:rPr>
              <a:t>Wajib unduh aplikasi Android; tanpa QR meja.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931920"/>
            <a:ext cx="5715000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4114800"/>
            <a:ext cx="2103120" cy="347472"/>
          </a:xfrm>
          <a:prstGeom prst="roundRect">
            <a:avLst>
              <a:gd name="adj" fmla="val 15000"/>
            </a:avLst>
          </a:prstGeom>
          <a:solidFill>
            <a:srgbClr val="F4E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114800"/>
            <a:ext cx="21031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7A1F1A"/>
                </a:solidFill>
                <a:latin typeface="Calibri"/>
                <a:ea typeface="Calibri"/>
              </a:rPr>
              <a:t>QR + CI4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4572000"/>
            <a:ext cx="5349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2A1B14"/>
                </a:solidFill>
                <a:latin typeface="Calibri"/>
                <a:ea typeface="Calibri"/>
              </a:rPr>
              <a:t>Makarim dkk. (2025)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4937760"/>
            <a:ext cx="53492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6E5648"/>
                </a:solidFill>
                <a:latin typeface="Calibri"/>
                <a:ea typeface="Calibri"/>
              </a:rPr>
              <a:t>Tanpa modul dapur dan tanpa pengelolaan stok menu.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  •  PENDAHULUAN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Pembatasan Masalah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7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143000"/>
            <a:ext cx="5760720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43000"/>
            <a:ext cx="73152" cy="5212080"/>
          </a:xfrm>
          <a:prstGeom prst="rect">
            <a:avLst/>
          </a:prstGeom>
          <a:solidFill>
            <a:srgbClr val="1F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234440"/>
            <a:ext cx="544982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7A1F1A"/>
                </a:solidFill>
                <a:latin typeface="Calibri"/>
                <a:ea typeface="Calibri"/>
              </a:rPr>
              <a:t>Termasuk dalam sistem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563624"/>
            <a:ext cx="5468112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4 aktor: Pelanggan, Koki, Kasir, Admin/Owner.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Pelanggan tanpa akun; akses lewat sesi/token QR meja.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Stok yang dikelola = ketersediaan menu &amp; add-on.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Bayar tunai (kasir) dan non-tunai (Midtrans Snap + webhook).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Status bayar terpisah dari status dapur.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Web responsif: PHP 8.1, Laravel 12, MySQL.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Metode Waterfall; uji Black-Box + UAT.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143000"/>
            <a:ext cx="5486400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143000"/>
            <a:ext cx="73152" cy="521208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234440"/>
            <a:ext cx="517550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7A1F1A"/>
                </a:solidFill>
                <a:latin typeface="Calibri"/>
                <a:ea typeface="Calibri"/>
              </a:rPr>
              <a:t>Di luar lingkup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1563624"/>
            <a:ext cx="5193792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Inventori bahan baku dapur.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Pembelian ke pemasok (supplier).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Penggajian karyawan (payroll).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Reservasi meja.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Manajemen logistik barang.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Aktor pramusaji (diganti self-ordering).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Refund/recurring Midtrans.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  •  PENDAHULUAN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Rumusan Masalah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8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097280"/>
            <a:ext cx="114300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261872"/>
            <a:ext cx="475488" cy="457200"/>
          </a:xfrm>
          <a:prstGeom prst="roundRect">
            <a:avLst>
              <a:gd name="adj" fmla="val 18000"/>
            </a:avLst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261872"/>
            <a:ext cx="475488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243584"/>
            <a:ext cx="1037844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2A1B14"/>
                </a:solidFill>
                <a:latin typeface="Calibri"/>
                <a:ea typeface="Calibri"/>
              </a:rPr>
              <a:t>Bagaimana merancang sistem pemesanan web + QR Code (Laravel 12) agar pelanggan memesan mandiri tanpa registrasi?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965960"/>
            <a:ext cx="114300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2130552"/>
            <a:ext cx="475488" cy="457200"/>
          </a:xfrm>
          <a:prstGeom prst="roundRect">
            <a:avLst>
              <a:gd name="adj" fmla="val 18000"/>
            </a:avLst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130552"/>
            <a:ext cx="475488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112264"/>
            <a:ext cx="1037844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2A1B14"/>
                </a:solidFill>
                <a:latin typeface="Calibri"/>
                <a:ea typeface="Calibri"/>
              </a:rPr>
              <a:t>Bagaimana mengelola menu, kategori, add-on, dan stok agar katalog hanya menampilkan item yang tersedia?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834639"/>
            <a:ext cx="114300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999232"/>
            <a:ext cx="475488" cy="457200"/>
          </a:xfrm>
          <a:prstGeom prst="roundRect">
            <a:avLst>
              <a:gd name="adj" fmla="val 18000"/>
            </a:avLst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999232"/>
            <a:ext cx="475488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980944"/>
            <a:ext cx="1037844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2A1B14"/>
                </a:solidFill>
                <a:latin typeface="Calibri"/>
                <a:ea typeface="Calibri"/>
              </a:rPr>
              <a:t>Bagaimana mengintegrasikan pesanan lunas ke antrean dapur tanpa pencatatan ulang?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703320"/>
            <a:ext cx="114300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3867911"/>
            <a:ext cx="475488" cy="457200"/>
          </a:xfrm>
          <a:prstGeom prst="roundRect">
            <a:avLst>
              <a:gd name="adj" fmla="val 18000"/>
            </a:avLst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867911"/>
            <a:ext cx="475488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849624"/>
            <a:ext cx="1037844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2A1B14"/>
                </a:solidFill>
                <a:latin typeface="Calibri"/>
                <a:ea typeface="Calibri"/>
              </a:rPr>
              <a:t>Bagaimana mengelola bayar tunai (kasir) dan non-tunai (Midtrans webhook) terpisah dari status dapur?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572000"/>
            <a:ext cx="114300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4736592"/>
            <a:ext cx="475488" cy="457200"/>
          </a:xfrm>
          <a:prstGeom prst="roundRect">
            <a:avLst>
              <a:gd name="adj" fmla="val 18000"/>
            </a:avLst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736592"/>
            <a:ext cx="475488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718304"/>
            <a:ext cx="1037844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2A1B14"/>
                </a:solidFill>
                <a:latin typeface="Calibri"/>
                <a:ea typeface="Calibri"/>
              </a:rPr>
              <a:t>Bagaimana membagi hak akses Admin, Koki, Kasir, dan Pelanggan sesuai wewenang?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440680"/>
            <a:ext cx="1143000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2920" y="5605272"/>
            <a:ext cx="475488" cy="457200"/>
          </a:xfrm>
          <a:prstGeom prst="roundRect">
            <a:avLst>
              <a:gd name="adj" fmla="val 18000"/>
            </a:avLst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605272"/>
            <a:ext cx="475488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586984"/>
            <a:ext cx="10378440" cy="51206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2A1B14"/>
                </a:solidFill>
                <a:latin typeface="Calibri"/>
                <a:ea typeface="Calibri"/>
              </a:rPr>
              <a:t>Bagaimana hasil pengujian Black-Box Testing dan User Acceptance Testing (UAT)?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  •  PENDAHULUAN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Tujuan Penelitian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9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115568"/>
            <a:ext cx="5715000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25295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07A28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225295"/>
            <a:ext cx="4480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7A1F1A"/>
                </a:solidFill>
                <a:latin typeface="Calibri"/>
                <a:ea typeface="Calibri"/>
              </a:rPr>
              <a:t>Membangun sistem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572768"/>
            <a:ext cx="5349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Sistem pemesanan menu web + QR Code dengan Laravel 12 di Kekupu Villa.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115568"/>
            <a:ext cx="5715000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225295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07A28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1225295"/>
            <a:ext cx="4480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7A1F1A"/>
                </a:solidFill>
                <a:latin typeface="Calibri"/>
                <a:ea typeface="Calibri"/>
              </a:rPr>
              <a:t>Self-ordering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572768"/>
            <a:ext cx="5349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Pelanggan memesan dari meja lewat sesi QR, tanpa wajib buat akun.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441448"/>
            <a:ext cx="5715000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551176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07A28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551176"/>
            <a:ext cx="4480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7A1F1A"/>
                </a:solidFill>
                <a:latin typeface="Calibri"/>
                <a:ea typeface="Calibri"/>
              </a:rPr>
              <a:t>Data master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898648"/>
            <a:ext cx="5349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Admin kelola menu, kategori, add-on, dan ketersediaan/stok.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441448"/>
            <a:ext cx="5715000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551176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07A28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551176"/>
            <a:ext cx="4480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7A1F1A"/>
                </a:solidFill>
                <a:latin typeface="Calibri"/>
                <a:ea typeface="Calibri"/>
              </a:rPr>
              <a:t>Antrean dapur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898648"/>
            <a:ext cx="5349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Koki menerima pesanan lunas dan memutakhirkan kitchen_status.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767328"/>
            <a:ext cx="5715000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877056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07A28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877056"/>
            <a:ext cx="4480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7A1F1A"/>
                </a:solidFill>
                <a:latin typeface="Calibri"/>
                <a:ea typeface="Calibri"/>
              </a:rPr>
              <a:t>Dua kanal bayar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224528"/>
            <a:ext cx="5349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Tunai dikonfirmasi Kasir; non-tunai diverifikasi webhook Midtrans.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767328"/>
            <a:ext cx="5715000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877056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07A28"/>
                </a:solidFill>
                <a:latin typeface="Calibri"/>
                <a:ea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3877056"/>
            <a:ext cx="4480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7A1F1A"/>
                </a:solidFill>
                <a:latin typeface="Calibri"/>
                <a:ea typeface="Calibri"/>
              </a:rPr>
              <a:t>Transparansi 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224528"/>
            <a:ext cx="5349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Pembayaran dan progres dapur dipantau sesuai wewenang masing-masing.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5093207"/>
            <a:ext cx="11430000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202936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07A28"/>
                </a:solidFill>
                <a:latin typeface="Calibri"/>
                <a:ea typeface="Calibri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202936"/>
            <a:ext cx="10195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7A1F1A"/>
                </a:solidFill>
                <a:latin typeface="Calibri"/>
                <a:ea typeface="Calibri"/>
              </a:rPr>
              <a:t>Pengujian terukur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550407"/>
            <a:ext cx="11064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Black-Box Testing dan UAT untuk kelayakan sebelum implementasi penuh.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  •  PENDAHULUAN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Manfaat Penelitian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10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143000"/>
            <a:ext cx="3749039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43000"/>
            <a:ext cx="73152" cy="2423160"/>
          </a:xfrm>
          <a:prstGeom prst="rect">
            <a:avLst/>
          </a:prstGeom>
          <a:solidFill>
            <a:srgbClr val="1F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234440"/>
            <a:ext cx="34381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Pelanggan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563624"/>
            <a:ext cx="3438144" cy="1892807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Pesan mandiri dari meja, lihat ketersediaan, pilih add-on, bayar tunai/QRIS, lacak status.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143000"/>
            <a:ext cx="3749039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143000"/>
            <a:ext cx="73152" cy="2423160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1234440"/>
            <a:ext cx="34381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Koki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1563624"/>
            <a:ext cx="3438144" cy="1892807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Antrean pesanan lunas masuk ke layar dapur: meja, item, add-on, catatan — tanpa nota kertas.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143000"/>
            <a:ext cx="3749039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143000"/>
            <a:ext cx="73152" cy="24231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1234440"/>
            <a:ext cx="34381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Kasir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1563624"/>
            <a:ext cx="3438144" cy="1892807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Konfirmasi tunai, pantau settlement Midtrans, cetak nota, unduh rekap bulanan.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749039"/>
            <a:ext cx="3749039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749039"/>
            <a:ext cx="73152" cy="2423160"/>
          </a:xfrm>
          <a:prstGeom prst="rect">
            <a:avLst/>
          </a:prstGeom>
          <a:solidFill>
            <a:srgbClr val="1E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840479"/>
            <a:ext cx="34381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Admin/Owner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169663"/>
            <a:ext cx="3438144" cy="1892807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Kelola master data, QR 12 meja, riwayat pesanan, dan laporan sebagai dasar keputusan.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749039"/>
            <a:ext cx="3749039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3749039"/>
            <a:ext cx="73152" cy="2423160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8" y="3840479"/>
            <a:ext cx="34381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Akademik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8" y="4169663"/>
            <a:ext cx="3438144" cy="1892807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Studi kasus Waterfall + Laravel 12 + Midtrans; dokumentasi Use Case, ERD, dan DFD.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749039"/>
            <a:ext cx="3749039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3749039"/>
            <a:ext cx="73152" cy="2423160"/>
          </a:xfrm>
          <a:prstGeom prst="rect">
            <a:avLst/>
          </a:prstGeom>
          <a:solidFill>
            <a:srgbClr val="6B3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9328" y="3840479"/>
            <a:ext cx="34381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UNHI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4169663"/>
            <a:ext cx="3438144" cy="1892807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Hilirisasi teknologi untuk industri kuliner lokal, wujud Tri Dharma Perguruan Tinggi.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II  •  LANDASAN TEORI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Landasan Teori &amp; Stack Teknologi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11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143000"/>
            <a:ext cx="3749039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43000"/>
            <a:ext cx="73152" cy="2423160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234440"/>
            <a:ext cx="34381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Laravel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563624"/>
            <a:ext cx="3438144" cy="1892807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Framework PHP MVC: keamanan, Artisan, dan integrasi API Midtrans.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143000"/>
            <a:ext cx="3749039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143000"/>
            <a:ext cx="73152" cy="24231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1234440"/>
            <a:ext cx="34381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PHP 8.1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1563624"/>
            <a:ext cx="3438144" cy="1892807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Bahasa server untuk logika bisnis, sesi meja, dan webhook.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143000"/>
            <a:ext cx="3749039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143000"/>
            <a:ext cx="73152" cy="2423160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1234440"/>
            <a:ext cx="34381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MySQL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1563624"/>
            <a:ext cx="3438144" cy="1892807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9 tabel: roles, users, categories, items, add-on, orders, order_items.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749039"/>
            <a:ext cx="3749039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749039"/>
            <a:ext cx="73152" cy="24231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840479"/>
            <a:ext cx="34381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QR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169663"/>
            <a:ext cx="3438144" cy="1892807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Akses frictionless ke /meja/{n}; nomor meja otomatis tanpa unduh aplikasi.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749039"/>
            <a:ext cx="3749039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3749039"/>
            <a:ext cx="73152" cy="2423160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8" y="3840479"/>
            <a:ext cx="34381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Midtrans Snap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8" y="4169663"/>
            <a:ext cx="3438144" cy="1892807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QRIS, e-wallet, transfer; settlement ditulis lewat webhook + signature SHA-512.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749039"/>
            <a:ext cx="3749039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3749039"/>
            <a:ext cx="73152" cy="24231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9328" y="3840479"/>
            <a:ext cx="34381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UML &amp; DFD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8" y="4169663"/>
            <a:ext cx="3438144" cy="1892807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Use Case, ERD, DFD Gane &amp; Sarson, plus Black-Box dan UAT.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II  •  LANDASAN TEORI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Penelitian Terdahulu — Posisi Penelitian Ini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12 / 27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115568"/>
          <a:ext cx="115214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  <a:gridCol w="2880360"/>
                <a:gridCol w="2880360"/>
              </a:tblGrid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Penelitian</a:t>
                      </a:r>
                    </a:p>
                  </a:txBody>
                  <a:tcPr anchor="ctr">
                    <a:solidFill>
                      <a:srgbClr val="7A1F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Pendekatan</a:t>
                      </a:r>
                    </a:p>
                  </a:txBody>
                  <a:tcPr anchor="ctr">
                    <a:solidFill>
                      <a:srgbClr val="7A1F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Kekurangan</a:t>
                      </a:r>
                    </a:p>
                  </a:txBody>
                  <a:tcPr anchor="ctr">
                    <a:solidFill>
                      <a:srgbClr val="7A1F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Pembedaan penelitian ini</a:t>
                      </a:r>
                    </a:p>
                  </a:txBody>
                  <a:tcPr anchor="ctr">
                    <a:solidFill>
                      <a:srgbClr val="7A1F1A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Irzan &amp; Yuliadi (2026)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QR + KDS, Waterfall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Framework tidak rinci; tanpa PG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Laravel 12 + Midtrans Snap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Milenia dkk. (2024)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QR + CodeIgniter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Bayar masih di kasir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Dua kanal: tunai &amp; webhook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Benny dkk. (2022)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Android + Midtrans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Wajib instal aplikasi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Web + QR meja, tanpa unduh app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Makarim dkk. (2025)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QR + CI4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Tanpa dapur &amp; stok menu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KDS + stok menu/add-on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Hikmah dkk. (2023)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QR + Waterfall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Tanpa payment gateway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Snap + pemisahan status bayar/dapur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20040" y="5440680"/>
            <a:ext cx="115214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7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577840"/>
            <a:ext cx="111556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7A1F1A"/>
                </a:solidFill>
                <a:latin typeface="Calibri"/>
                <a:ea typeface="Calibri"/>
              </a:rPr>
              <a:t>Kontribusi: satu sistem terpadu — QR meja, stok menu/add-on, antrean dapur real-time, Midtrans webhook, dan dashboard laporan — untuk UMKM restoran.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III  •  METODE PENELITIAN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Metode Pengembangan: Waterfall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13 / 27</a:t>
            </a:r>
          </a:p>
        </p:txBody>
      </p:sp>
      <p:pic>
        <p:nvPicPr>
          <p:cNvPr id="11" name="Picture 10" descr="water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5120640" cy="32461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15000" y="1115568"/>
            <a:ext cx="6080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1207008"/>
            <a:ext cx="5715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7A1F1A"/>
                </a:solidFill>
                <a:latin typeface="Calibri"/>
                <a:ea typeface="Calibri"/>
              </a:rPr>
              <a:t>1  Requirement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536192"/>
            <a:ext cx="5715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Observasi, wawancara, studi pustaka → spesifikasi KF &amp; KNF.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2121408"/>
            <a:ext cx="6080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2212848"/>
            <a:ext cx="5715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7A1F1A"/>
                </a:solidFill>
                <a:latin typeface="Calibri"/>
                <a:ea typeface="Calibri"/>
              </a:rPr>
              <a:t>2 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542032"/>
            <a:ext cx="5715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Use Case, ERD, DFD, dan rancangan UI per peran.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3127248"/>
            <a:ext cx="6080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3218688"/>
            <a:ext cx="5715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7A1F1A"/>
                </a:solidFill>
                <a:latin typeface="Calibri"/>
                <a:ea typeface="Calibri"/>
              </a:rPr>
              <a:t>3  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3547872"/>
            <a:ext cx="5715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PHP 8.1, Laravel 12, Bootstrap, MySQL.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4133088"/>
            <a:ext cx="6080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4224528"/>
            <a:ext cx="5715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7A1F1A"/>
                </a:solidFill>
                <a:latin typeface="Calibri"/>
                <a:ea typeface="Calibri"/>
              </a:rPr>
              <a:t>4 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4553712"/>
            <a:ext cx="5715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34 skenario Black-Box + UAT 18 responden.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0" y="5138928"/>
            <a:ext cx="6080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5230368"/>
            <a:ext cx="5715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7A1F1A"/>
                </a:solidFill>
                <a:latin typeface="Calibri"/>
                <a:ea typeface="Calibri"/>
              </a:rPr>
              <a:t>5  Maintenance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5559552"/>
            <a:ext cx="5715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Deployment (Niagahoster) dan perbaikan pasca-rilis.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III  •  METODE PENELITIAN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Kerangka Penelitian (Input → Process → Output)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14 / 27</a:t>
            </a:r>
          </a:p>
        </p:txBody>
      </p:sp>
      <p:pic>
        <p:nvPicPr>
          <p:cNvPr id="11" name="Picture 10" descr="kerang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78992"/>
            <a:ext cx="111556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III  •  METODE PENELITIAN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Pengumpulan Data &amp; Responden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15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115568"/>
            <a:ext cx="3749039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73152" cy="5257800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207008"/>
            <a:ext cx="34381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7A1F1A"/>
                </a:solidFill>
                <a:latin typeface="Calibri"/>
                <a:ea typeface="Calibri"/>
              </a:rPr>
              <a:t>Observasi  •  4 Jan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536192"/>
            <a:ext cx="3456432" cy="4727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12 meja pelanggan.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Nota kertas, tanpa sistem digital.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Alur fisik meja–dapur–kasir.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Media bayar di titik kasir.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Volume &amp; waktu tunggu tidak diukur stopwatch pada hari observasi.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115568"/>
            <a:ext cx="3749039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115568"/>
            <a:ext cx="73152" cy="5257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1207008"/>
            <a:ext cx="34381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7A1F1A"/>
                </a:solidFill>
                <a:latin typeface="Calibri"/>
                <a:ea typeface="Calibri"/>
              </a:rPr>
              <a:t>Wawancara  •  6 informan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1536192"/>
            <a:ext cx="3456432" cy="4727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1 pemilik (Bagus Suteja).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2 koki, 2 pramusaji, 1 kasir.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Alur kerja &amp; kendala rush hour.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Pengelolaan ketersediaan menu.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Kebutuhan fitur &amp; pembagian role.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115568"/>
            <a:ext cx="3657600" cy="525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115568"/>
            <a:ext cx="73152" cy="5257800"/>
          </a:xfrm>
          <a:prstGeom prst="rect">
            <a:avLst/>
          </a:prstGeom>
          <a:solidFill>
            <a:srgbClr val="1F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1207008"/>
            <a:ext cx="334670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7A1F1A"/>
                </a:solidFill>
                <a:latin typeface="Calibri"/>
                <a:ea typeface="Calibri"/>
              </a:rPr>
              <a:t>UAT kelak  •  18 orang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1536192"/>
            <a:ext cx="3364992" cy="4727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1 owner (peran Admin).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2 koki + 1 kasir.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2 pramusaji: butir inti saja.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12 pelanggan (satu per meja).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Skala Likert 1–5; skor ideal 1.525.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III  •  PERANCANGAN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Empat Aktor Sistem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16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188720"/>
            <a:ext cx="2788920" cy="5120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88720"/>
            <a:ext cx="2788920" cy="1051560"/>
          </a:xfrm>
          <a:prstGeom prst="rect">
            <a:avLst/>
          </a:prstGeom>
          <a:solidFill>
            <a:srgbClr val="1F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2801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Calibri"/>
              </a:rPr>
              <a:t>Pelanggan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17373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  <a:ea typeface="Calibri"/>
              </a:rPr>
              <a:t>Tanpa 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423160"/>
            <a:ext cx="2468880" cy="3566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Scan QR meja, lihat menu &amp; stok, pilih add-on, keranjang, checkout, bayar, lacak status.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1188720"/>
            <a:ext cx="2788920" cy="5120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1188720"/>
            <a:ext cx="2788920" cy="1051560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12801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Calibri"/>
              </a:rPr>
              <a:t>Koki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17373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  <a:ea typeface="Calibri"/>
              </a:rPr>
              <a:t>Login role chef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2423160"/>
            <a:ext cx="2468880" cy="3566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Lihat antrean pesanan lunas, rincian item/add-on/catatan, update kitchen_status.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188720"/>
            <a:ext cx="2788920" cy="5120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188720"/>
            <a:ext cx="2788920" cy="10515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12801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Calibri"/>
              </a:rPr>
              <a:t>Kasir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17373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  <a:ea typeface="Calibri"/>
              </a:rPr>
              <a:t>Login role cashier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423160"/>
            <a:ext cx="2468880" cy="3566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Pantau pending, konfirmasi tunai saja, pantau Midtrans, cetak nota, laporan.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1188720"/>
            <a:ext cx="2788920" cy="5120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1188720"/>
            <a:ext cx="2788920" cy="1051560"/>
          </a:xfrm>
          <a:prstGeom prst="rect">
            <a:avLst/>
          </a:prstGeom>
          <a:solidFill>
            <a:srgbClr val="1E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53728" y="12801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Calibri"/>
              </a:rPr>
              <a:t>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17373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  <a:ea typeface="Calibri"/>
              </a:rPr>
              <a:t>Login role admin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2423160"/>
            <a:ext cx="2468880" cy="3566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CRUD menu/kategori/add-on/stok, karyawan &amp; role, QR 12 meja, riwayat &amp; laporan.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III  •  PERANCANGAN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Kebutuhan Fungsional per Aktor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17 / 27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115568"/>
          <a:ext cx="115214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Aktor</a:t>
                      </a:r>
                    </a:p>
                  </a:txBody>
                  <a:tcPr anchor="ctr">
                    <a:solidFill>
                      <a:srgbClr val="7A1F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Kode</a:t>
                      </a:r>
                    </a:p>
                  </a:txBody>
                  <a:tcPr anchor="ctr">
                    <a:solidFill>
                      <a:srgbClr val="7A1F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Contoh kemampuan inti</a:t>
                      </a:r>
                    </a:p>
                  </a:txBody>
                  <a:tcPr anchor="ctr">
                    <a:solidFill>
                      <a:srgbClr val="7A1F1A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Pelanggan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KF-P01–P12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Scan QR, katalog, stok, add-on, keranjang, checkout, tunai/QRIS, lacak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Admin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KF-A01–A10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Login, CRUD menu/kategori/add-on/stok, karyawan, role, laporan, QR meja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Koki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KF-K01–K07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Login, antrean lunas, meja/item/add-on/catatan, update status, indikator baru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Kasir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KF-S01–S07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Login, daftar pending, konfirmasi tunai, pantau Midtrans, nota, laporan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Sistem/Midtrans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KF-M01–M06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Snap token, webhook, verifikasi SHA-512, settlement, terus ke dapur, sesi meja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III  •  PERANCANGAN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Use Case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18 / 27</a:t>
            </a:r>
          </a:p>
        </p:txBody>
      </p:sp>
      <p:pic>
        <p:nvPicPr>
          <p:cNvPr id="11" name="Picture 10" descr="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051560"/>
            <a:ext cx="1165860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III  •  PERANCANGAN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Entity Relationship Diagram — 9 Tabel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19 / 27</a:t>
            </a:r>
          </a:p>
        </p:txBody>
      </p:sp>
      <p:pic>
        <p:nvPicPr>
          <p:cNvPr id="11" name="Picture 10" descr="e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5760720" cy="5440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7920" y="1115568"/>
            <a:ext cx="557784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15568"/>
            <a:ext cx="73152" cy="117043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207008"/>
            <a:ext cx="52669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7A1F1A"/>
                </a:solidFill>
                <a:latin typeface="Calibri"/>
                <a:ea typeface="Calibri"/>
              </a:rPr>
              <a:t>Tanpa tabel meja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536192"/>
            <a:ext cx="5266944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A1B14"/>
                </a:solidFill>
                <a:latin typeface="Calibri"/>
                <a:ea typeface="Calibri"/>
              </a:rPr>
              <a:t>Identitas meja = orders.table_number dari parameter QR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395728"/>
            <a:ext cx="557784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395728"/>
            <a:ext cx="73152" cy="117043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487168"/>
            <a:ext cx="52669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7A1F1A"/>
                </a:solidFill>
                <a:latin typeface="Calibri"/>
                <a:ea typeface="Calibri"/>
              </a:rPr>
              <a:t>Add-on konsisten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816352"/>
            <a:ext cx="5266944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A1B14"/>
                </a:solidFill>
                <a:latin typeface="Calibri"/>
                <a:ea typeface="Calibri"/>
              </a:rPr>
              <a:t>addon_groups + addons + addon_group_item; pilihan tersimpan JSON di order_items.addons.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75887"/>
            <a:ext cx="557784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675887"/>
            <a:ext cx="73152" cy="117043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767327"/>
            <a:ext cx="52669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7A1F1A"/>
                </a:solidFill>
                <a:latin typeface="Calibri"/>
                <a:ea typeface="Calibri"/>
              </a:rPr>
              <a:t>Dua status terpisah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096511"/>
            <a:ext cx="5266944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A1B14"/>
                </a:solidFill>
                <a:latin typeface="Calibri"/>
                <a:ea typeface="Calibri"/>
              </a:rPr>
              <a:t>orders.status: pending / settlement.  orders.kitchen_status: waiting / processing / cooking / ready.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956047"/>
            <a:ext cx="557784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956047"/>
            <a:ext cx="73152" cy="117043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5047487"/>
            <a:ext cx="52669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7A1F1A"/>
                </a:solidFill>
                <a:latin typeface="Calibri"/>
                <a:ea typeface="Calibri"/>
              </a:rPr>
              <a:t>Tidak ada inventori bahan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5376671"/>
            <a:ext cx="5266944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A1B14"/>
                </a:solidFill>
                <a:latin typeface="Calibri"/>
                <a:ea typeface="Calibri"/>
              </a:rPr>
              <a:t>Stok hanya item &amp; add-on yang ditawarkan ke pelanggan.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III  •  PERANCANGAN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Context Diagram (DFD Level 0)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20 / 27</a:t>
            </a:r>
          </a:p>
        </p:txBody>
      </p:sp>
      <p:pic>
        <p:nvPicPr>
          <p:cNvPr id="11" name="Picture 10" descr="dfd-l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1024128"/>
            <a:ext cx="7498079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III  •  PERANCANGAN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DFD Level 1 — Enam Proses Utama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21 / 27</a:t>
            </a:r>
          </a:p>
        </p:txBody>
      </p:sp>
      <p:pic>
        <p:nvPicPr>
          <p:cNvPr id="11" name="Picture 10" descr="dfd-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1005840"/>
            <a:ext cx="786384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III  •  PERANCANGAN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Dua Kanal Pembayaran yang Dipisahkan Tegas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22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115568"/>
            <a:ext cx="56692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73152" cy="4160520"/>
          </a:xfrm>
          <a:prstGeom prst="rect">
            <a:avLst/>
          </a:prstGeom>
          <a:solidFill>
            <a:srgbClr val="1E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207008"/>
            <a:ext cx="53583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Non-tunai  •  Midtrans Snap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536192"/>
            <a:ext cx="5376672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Pelanggan pilih QRIS / e-wallet / transfer.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Sistem minta snap_token ke Midtrans.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Pelanggan bayar di jendela Snap.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Webhook ke POST /midtrans/notification.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Signature SHA-512 diverifikasi dulu.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settlement/capture → orders.status = settlement.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kitchen_status: waiting → processing.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Kasir hanya memantau; tanpa tombol konfirmasi.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15568"/>
            <a:ext cx="557784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115568"/>
            <a:ext cx="73152" cy="4160520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207008"/>
            <a:ext cx="52669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Tunai  •  Konfirmasi Kasir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1536192"/>
            <a:ext cx="5285231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Pelanggan pilih metode tunai saat checkout.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Pesanan tersimpan status pending.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Muncul di daftar Kasir menunggu pelunasan.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Kasir cocokkan grand_total dengan uang fisik.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Tombol Konfirmasi hanya untuk payment_method = tunai.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Sistem menulis settlement + kitchen_status processing.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Pesanan baru tampil di antrean dapur.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Pajak 10% dihitung saat checkout.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440680"/>
            <a:ext cx="114300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110642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7A1F1A"/>
                </a:solidFill>
                <a:latin typeface="Calibri"/>
                <a:ea typeface="Calibri"/>
              </a:rPr>
              <a:t>Prinsip desain: pelunasan pembayaran tidak pernah disimpulkan dari progres dapur, dan sebaliknya.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III  •  PERANCANGAN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Rancangan Antarmuka Pelanggan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23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097280"/>
            <a:ext cx="283464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i-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79" y="1207008"/>
            <a:ext cx="2651760" cy="39776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0040" y="571500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7A1F1A"/>
                </a:solidFill>
                <a:latin typeface="Calibri"/>
                <a:ea typeface="Calibri"/>
              </a:rPr>
              <a:t>Katalog menu digital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097280"/>
            <a:ext cx="283464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ui-add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207008"/>
            <a:ext cx="2651760" cy="39776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91840" y="571500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7A1F1A"/>
                </a:solidFill>
                <a:latin typeface="Calibri"/>
                <a:ea typeface="Calibri"/>
              </a:rPr>
              <a:t>Kustomisasi add-on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097280"/>
            <a:ext cx="283464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ui-c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79" y="1207008"/>
            <a:ext cx="2651760" cy="397763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571500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7A1F1A"/>
                </a:solidFill>
                <a:latin typeface="Calibri"/>
                <a:ea typeface="Calibri"/>
              </a:rPr>
              <a:t>Keranjang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097280"/>
            <a:ext cx="283464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ui-bay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1207008"/>
            <a:ext cx="2651760" cy="397763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35440" y="571500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7A1F1A"/>
                </a:solidFill>
                <a:latin typeface="Calibri"/>
                <a:ea typeface="Calibri"/>
              </a:rPr>
              <a:t>Pembayaran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III  •  PERANCANGAN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Rancangan Antarmuka Staf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24 / 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143000"/>
            <a:ext cx="3749039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43000"/>
            <a:ext cx="73152" cy="5212080"/>
          </a:xfrm>
          <a:prstGeom prst="rect">
            <a:avLst/>
          </a:prstGeom>
          <a:solidFill>
            <a:srgbClr val="1E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234440"/>
            <a:ext cx="34381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7A1F1A"/>
                </a:solidFill>
                <a:latin typeface="Calibri"/>
                <a:ea typeface="Calibri"/>
              </a:rPr>
              <a:t>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563624"/>
            <a:ext cx="3456432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Sidebar: menu, kategori, add-on, karyawan, role, pesanan, laporan, QR meja.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Kartu ringkasan: pesanan hari ini, pendapatan, item aktif.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CRUD stok &amp; is_active; unduh rekap bulanan.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Generate QR 12 meja → /meja/{n}.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143000"/>
            <a:ext cx="3749039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143000"/>
            <a:ext cx="73152" cy="5212080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1234440"/>
            <a:ext cx="34381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7A1F1A"/>
                </a:solidFill>
                <a:latin typeface="Calibri"/>
                <a:ea typeface="Calibri"/>
              </a:rPr>
              <a:t>Koki  •  KDS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1563624"/>
            <a:ext cx="3456432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Papan antrean kartu: meja, kode, item + add-on, catatan, waktu.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Tombol: Diproses → Dimasak → Siap disajikan.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Hanya pesanan settlement yang tampil.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Indikator visual pesanan baru.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143000"/>
            <a:ext cx="3749039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143000"/>
            <a:ext cx="73152" cy="52120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1234440"/>
            <a:ext cx="343814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7A1F1A"/>
                </a:solidFill>
                <a:latin typeface="Calibri"/>
                <a:ea typeface="Calibri"/>
              </a:rPr>
              <a:t>Kasir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1563624"/>
            <a:ext cx="3456432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Pisahkan antrean tunai pending vs QRIS Midtrans.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Tombol konfirmasi hanya untuk tunai.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Cetak nota: item, add-on, pajak, total.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•  Unduh laporan pesanan bulanan.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III  •  PENGUJIAN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Black-Box Testing  •  34 Skenario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25 / 27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097280"/>
          <a:ext cx="67665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</a:tblGrid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Aktor</a:t>
                      </a:r>
                    </a:p>
                  </a:txBody>
                  <a:tcPr anchor="ctr">
                    <a:solidFill>
                      <a:srgbClr val="7A1F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Jumlah</a:t>
                      </a:r>
                    </a:p>
                  </a:txBody>
                  <a:tcPr anchor="ctr">
                    <a:solidFill>
                      <a:srgbClr val="7A1F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Contoh skenario</a:t>
                      </a:r>
                    </a:p>
                  </a:txBody>
                  <a:tcPr anchor="ctr">
                    <a:solidFill>
                      <a:srgbClr val="7A1F1A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Pelanggan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Scan QR, stok, add-on, checkout, Snap, lacak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Admin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CRUD menu/stok/add-on, karyawan, role, laporan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Koki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Login, antrean lunas, update status, indikator baru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Kasir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Pending, konfirmasi tunai, pantau Midtrans, nota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Sistem / Midtrans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Snap, webhook, SHA-512, sesi meja, validasi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269480" y="1097280"/>
            <a:ext cx="45262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69480" y="1097280"/>
            <a:ext cx="73152" cy="3108960"/>
          </a:xfrm>
          <a:prstGeom prst="rect">
            <a:avLst/>
          </a:prstGeom>
          <a:solidFill>
            <a:srgbClr val="1F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0648" y="1188720"/>
            <a:ext cx="4215384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Kriteria lulus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4072" y="1517904"/>
            <a:ext cx="4233672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Valid = hasil aktual = expected.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Invalid = fungsi/data/tampilan menyimpang.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Sistem lulus jika 100% skenario Valid.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A1B14"/>
                </a:solidFill>
                <a:latin typeface="Calibri"/>
                <a:ea typeface="Calibri"/>
              </a:rPr>
              <a:t>•  Invalid → bugfix lalu regression testing.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389120"/>
            <a:ext cx="115214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52628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1F1A"/>
                </a:solidFill>
                <a:latin typeface="Calibri"/>
                <a:ea typeface="Calibri"/>
              </a:rPr>
              <a:t>User Acceptance Testing (UAT)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892040"/>
            <a:ext cx="111556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18 responden  •  12 butir inti (usability, fungsi, UI, kinerja, kepuasan) + butir spesifik per peran.
Skala Likert 1–5  •  skor ideal 1.525  •  layak jika ≥ 61% dan Black-Box 100% Valid.
Contoh: 1.270 / 1.525 = 83,3% → kategori Sangat Layak (81–100%).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64592"/>
            <a:ext cx="621792" cy="62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28016"/>
            <a:ext cx="95097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  <a:ea typeface="Calibri"/>
              </a:rPr>
              <a:t>BAB III  •  JADWAL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7472"/>
            <a:ext cx="98755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  <a:ea typeface="Calibri"/>
              </a:rPr>
              <a:t>Tahapan Waktu Penelitian  •  Des 2025 – Jun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14400"/>
            <a:ext cx="12191695" cy="5742432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Calibri"/>
              </a:rPr>
              <a:t>Sidang Proposal Skripsi  •  UNHI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5683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  <a:ea typeface="Calibri"/>
              </a:rPr>
              <a:t>26 / 27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078992"/>
          <a:ext cx="1152144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  <a:gridCol w="1440180"/>
                <a:gridCol w="1440180"/>
                <a:gridCol w="1440180"/>
                <a:gridCol w="1440180"/>
              </a:tblGrid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Kegiatan</a:t>
                      </a:r>
                    </a:p>
                  </a:txBody>
                  <a:tcPr anchor="ctr">
                    <a:solidFill>
                      <a:srgbClr val="7A1F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Des</a:t>
                      </a:r>
                    </a:p>
                  </a:txBody>
                  <a:tcPr anchor="ctr">
                    <a:solidFill>
                      <a:srgbClr val="7A1F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Jan</a:t>
                      </a:r>
                    </a:p>
                  </a:txBody>
                  <a:tcPr anchor="ctr">
                    <a:solidFill>
                      <a:srgbClr val="7A1F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Feb</a:t>
                      </a:r>
                    </a:p>
                  </a:txBody>
                  <a:tcPr anchor="ctr">
                    <a:solidFill>
                      <a:srgbClr val="7A1F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Mar</a:t>
                      </a:r>
                    </a:p>
                  </a:txBody>
                  <a:tcPr anchor="ctr">
                    <a:solidFill>
                      <a:srgbClr val="7A1F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Apr</a:t>
                      </a:r>
                    </a:p>
                  </a:txBody>
                  <a:tcPr anchor="ctr">
                    <a:solidFill>
                      <a:srgbClr val="7A1F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Mei</a:t>
                      </a:r>
                    </a:p>
                  </a:txBody>
                  <a:tcPr anchor="ctr">
                    <a:solidFill>
                      <a:srgbClr val="7A1F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Jun</a:t>
                      </a:r>
                    </a:p>
                  </a:txBody>
                  <a:tcPr anchor="ctr">
                    <a:solidFill>
                      <a:srgbClr val="7A1F1A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Observasi lapangan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Wawancara manajemen &amp; staf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Analisis kebutuhan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Perancangan (Use Case, ERD, DFD, UI)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Implementasi Laravel 12 &amp; PHP 8.1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Black-Box Testing &amp; UAT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4E6D4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Penyusunan laporan akhir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A1B14"/>
                          </a:solidFill>
                          <a:latin typeface="Calibri"/>
                          <a:ea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20040" y="4526280"/>
            <a:ext cx="11521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7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66344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7A1F1A"/>
                </a:solidFill>
                <a:latin typeface="Calibri"/>
                <a:ea typeface="Calibri"/>
              </a:rPr>
              <a:t>Luaran yang diharapkan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029200"/>
            <a:ext cx="1115568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A1B14"/>
                </a:solidFill>
                <a:latin typeface="Calibri"/>
                <a:ea typeface="Calibri"/>
              </a:rPr>
              <a:t>Sistem pemesanan mandiri berbasis QR yang akurat mencatat transaksi, mempercepat pelayanan,
memisahkan status bayar dan dapur, serta menyediakan laporan bulanan bagi pemilik restoran.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1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un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1051560"/>
            <a:ext cx="932688" cy="9326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  <a:ea typeface="Calibri"/>
              </a:rPr>
              <a:t>Terima Kasih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80" y="2926080"/>
            <a:ext cx="17373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9966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F5D7B0"/>
                </a:solidFill>
                <a:latin typeface="Calibri"/>
                <a:ea typeface="Calibri"/>
              </a:rPr>
              <a:t>Kritik dan saran dari Bapak/Ibu penguji sangat diharapkan
untuk penyempurnaan penelitian ini.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  <a:ea typeface="Calibri"/>
              </a:rPr>
              <a:t>Ida Bagus Gede Rama Tommy Saputera  •  22.03.02.0065
Sistem Informasi  •  Universitas Hindu Indonesia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9966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1">
                <a:solidFill>
                  <a:srgbClr val="C9A227"/>
                </a:solidFill>
                <a:latin typeface="Calibri"/>
                <a:ea typeface="Calibri"/>
              </a:rPr>
              <a:t>Om Śāntiḥ Śāntiḥ Śāntiḥ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